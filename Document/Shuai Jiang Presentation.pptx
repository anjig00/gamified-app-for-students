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Urbanist" panose="02010600030101010101" charset="0"/>
      <p:regular r:id="rId10"/>
      <p:bold r:id="rId11"/>
      <p:italic r:id="rId12"/>
      <p:boldItalic r:id="rId13"/>
    </p:embeddedFont>
    <p:embeddedFont>
      <p:font typeface="Urbanist Light" panose="02010600030101010101" charset="0"/>
      <p:regular r:id="rId14"/>
      <p:bold r:id="rId15"/>
      <p:italic r:id="rId16"/>
      <p:boldItalic r:id="rId17"/>
    </p:embeddedFont>
    <p:embeddedFont>
      <p:font typeface="Urbanist SemiBold" panose="02010600030101010101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1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deab4271d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g3bdeab4271d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264521" y="729213"/>
            <a:ext cx="7259879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</a:t>
            </a:r>
            <a:r>
              <a:rPr lang="en-US" sz="90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eet </a:t>
            </a:r>
            <a:r>
              <a:rPr lang="en-US" sz="9000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&amp;</a:t>
            </a:r>
            <a:r>
              <a:rPr lang="en-US" sz="90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9000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</a:t>
            </a:r>
            <a:r>
              <a:rPr lang="en-US" sz="90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erit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2414549" y="2597545"/>
            <a:ext cx="7772725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A0AEC0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Gamifying Academic Success &amp; Real-World Connection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3053700" y="5545426"/>
            <a:ext cx="6168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60A5F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Name: Shuai Jiang</a:t>
            </a:r>
            <a:br>
              <a:rPr lang="en-US" sz="2000">
                <a:solidFill>
                  <a:srgbClr val="60A5F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</a:br>
            <a:r>
              <a:rPr lang="en-US" sz="2000">
                <a:solidFill>
                  <a:srgbClr val="60A5F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Student Number: C00292846</a:t>
            </a:r>
            <a:endParaRPr sz="2000"/>
          </a:p>
        </p:txBody>
      </p:sp>
      <p:pic>
        <p:nvPicPr>
          <p:cNvPr id="88" name="Google Shape;88;p13" title="MONO_WHIT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4050" y="3404836"/>
            <a:ext cx="4223899" cy="236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359434"/>
            <a:ext cx="52008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Project Overview: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From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Pain Points</a:t>
            </a: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to Solutions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71500" y="2609850"/>
            <a:ext cx="49530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2350981"/>
            <a:ext cx="520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The Problem (User Persona: "Steve")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5227531"/>
            <a:ext cx="5200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The Solution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23900" y="3231474"/>
            <a:ext cx="381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62000" y="3227281"/>
            <a:ext cx="4762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Overwhelmed:</a:t>
            </a: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Struggles to manage heavy academic workloads.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23900" y="3936324"/>
            <a:ext cx="381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62000" y="3932131"/>
            <a:ext cx="4762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No Motivation:</a:t>
            </a: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Hard to maintain focus on long-term goals.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23900" y="4641174"/>
            <a:ext cx="381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62000" y="4636981"/>
            <a:ext cx="4762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Social Isolation:</a:t>
            </a: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Feels disconnected from peers.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23900" y="5758774"/>
            <a:ext cx="381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62000" y="5741881"/>
            <a:ext cx="47625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Hybrid Platform:</a:t>
            </a: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Productivity tools meets RPG gameplay.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23900" y="7105650"/>
            <a:ext cx="381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762000" y="7105650"/>
            <a:ext cx="47625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Core Differentiator:</a:t>
            </a: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"Offline First" social interaction powered by Bluetooth (BLE).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/>
          <p:nvPr/>
        </p:nvSpPr>
        <p:spPr>
          <a:xfrm>
            <a:off x="476250" y="1797546"/>
            <a:ext cx="5381625" cy="1373385"/>
          </a:xfrm>
          <a:prstGeom prst="roundRect">
            <a:avLst>
              <a:gd name="adj" fmla="val 554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666750" y="1988046"/>
            <a:ext cx="50007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A86E8"/>
                </a:solidFill>
                <a:latin typeface="Urbanist"/>
                <a:ea typeface="Urbanist"/>
                <a:cs typeface="Urbanist"/>
                <a:sym typeface="Urbanist"/>
              </a:rPr>
              <a:t>Productivity Suite</a:t>
            </a:r>
            <a:r>
              <a:rPr lang="en-US" sz="1500" b="0" i="0" u="none" strike="noStrike" cap="none">
                <a:solidFill>
                  <a:srgbClr val="4A86E8"/>
                </a:solidFill>
                <a:latin typeface="Urbanist"/>
                <a:ea typeface="Urbanist"/>
                <a:cs typeface="Urbanist"/>
                <a:sym typeface="Urbanist"/>
              </a:rPr>
              <a:t> Task Management, Weekly Timetable, and Focus Mode (Timer).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467746" y="1797546"/>
            <a:ext cx="38100" cy="1373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476250" y="3313807"/>
            <a:ext cx="5381625" cy="1373385"/>
          </a:xfrm>
          <a:prstGeom prst="roundRect">
            <a:avLst>
              <a:gd name="adj" fmla="val 554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666750" y="3504307"/>
            <a:ext cx="50007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0A5FA"/>
                </a:solidFill>
                <a:latin typeface="Urbanist"/>
                <a:ea typeface="Urbanist"/>
                <a:cs typeface="Urbanist"/>
                <a:sym typeface="Urbanist"/>
              </a:rPr>
              <a:t>Gamification Engine</a:t>
            </a:r>
            <a:r>
              <a:rPr lang="en-US" sz="1500" b="0" i="0" u="none" strike="noStrike" cap="none">
                <a:solidFill>
                  <a:srgbClr val="4A86E8"/>
                </a:solidFill>
                <a:latin typeface="Urbanist"/>
                <a:ea typeface="Urbanist"/>
                <a:cs typeface="Urbanist"/>
                <a:sym typeface="Urbanist"/>
              </a:rPr>
              <a:t> XP &amp; Leveling System, Achievement Badges, and Global Leaderboards.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467746" y="3313807"/>
            <a:ext cx="38100" cy="1373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476250" y="4830067"/>
            <a:ext cx="5381625" cy="1373385"/>
          </a:xfrm>
          <a:prstGeom prst="roundRect">
            <a:avLst>
              <a:gd name="adj" fmla="val 554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666750" y="5020567"/>
            <a:ext cx="50007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0A5FA"/>
                </a:solidFill>
                <a:latin typeface="Urbanist"/>
                <a:ea typeface="Urbanist"/>
                <a:cs typeface="Urbanist"/>
                <a:sym typeface="Urbanist"/>
              </a:rPr>
              <a:t>Social Innovation (Offline)</a:t>
            </a: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>
                <a:solidFill>
                  <a:srgbClr val="4A86E8"/>
                </a:solidFill>
                <a:latin typeface="Urbanist"/>
                <a:ea typeface="Urbanist"/>
                <a:cs typeface="Urbanist"/>
                <a:sym typeface="Urbanist"/>
              </a:rPr>
              <a:t>BLE Technology scans for nearby devices. Requires face-to-face confirmation to earn social rewards.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467746" y="4830067"/>
            <a:ext cx="38100" cy="1373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76250" y="476250"/>
            <a:ext cx="117159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Core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Functionality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476250" y="1219200"/>
            <a:ext cx="112395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15" title="Screenshot 2026-01-25 20272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5705" y="272447"/>
            <a:ext cx="1587882" cy="2971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title="Screenshot 2026-01-25 20280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97243" y="272447"/>
            <a:ext cx="1587277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title="Screenshot 2026-01-25 20284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14299" y="272447"/>
            <a:ext cx="1588858" cy="2971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title="Screenshot 2026-01-25 202924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66077" y="3516693"/>
            <a:ext cx="1587137" cy="2971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title="Screenshot 2026-01-25 20294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396742" y="3516693"/>
            <a:ext cx="1588277" cy="2971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title="Screenshot 2026-01-25 203003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214398" y="3516693"/>
            <a:ext cx="1588647" cy="29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2793420" y="1033464"/>
            <a:ext cx="44253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Target UI Concept ➝</a:t>
            </a:r>
            <a:endParaRPr sz="32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484090"/>
            <a:ext cx="5476875" cy="1236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484090"/>
            <a:ext cx="5476875" cy="1236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250" y="4006155"/>
            <a:ext cx="5476875" cy="1510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4006155"/>
            <a:ext cx="5476875" cy="1510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2779365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34150" y="2779365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1525" y="430143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34150" y="430143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28687" y="2950815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1533525" y="2779375"/>
            <a:ext cx="3604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Frontend      (Android Studio)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1533525" y="3150850"/>
            <a:ext cx="3748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Native Android Development (Kotlin)</a:t>
            </a:r>
            <a:endParaRPr/>
          </a:p>
        </p:txBody>
      </p:sp>
      <p:pic>
        <p:nvPicPr>
          <p:cNvPr id="148" name="Google Shape;148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719887" y="2950815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7296149" y="2779375"/>
            <a:ext cx="3670513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Backend      (V</a:t>
            </a:r>
            <a:r>
              <a:rPr lang="en-US" sz="1800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isual Studio Code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endParaRPr dirty="0"/>
          </a:p>
        </p:txBody>
      </p:sp>
      <p:sp>
        <p:nvSpPr>
          <p:cNvPr id="150" name="Google Shape;150;p16"/>
          <p:cNvSpPr txBox="1"/>
          <p:nvPr/>
        </p:nvSpPr>
        <p:spPr>
          <a:xfrm>
            <a:off x="7296150" y="3150850"/>
            <a:ext cx="3924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RESTful API built with Django (Python)</a:t>
            </a:r>
            <a:endParaRPr/>
          </a:p>
        </p:txBody>
      </p:sp>
      <p:pic>
        <p:nvPicPr>
          <p:cNvPr id="151" name="Google Shape;151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57262" y="447288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1533525" y="4301425"/>
            <a:ext cx="4419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Database Evolution 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1533525" y="4672900"/>
            <a:ext cx="3604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Dev: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SQLite (Rapid Prototyping)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Prod:</a:t>
            </a: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PostgreSQL (ACID Compliance)</a:t>
            </a:r>
            <a:endParaRPr/>
          </a:p>
        </p:txBody>
      </p:sp>
      <p:pic>
        <p:nvPicPr>
          <p:cNvPr id="154" name="Google Shape;154;p16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677025" y="4472880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6"/>
          <p:cNvSpPr txBox="1"/>
          <p:nvPr/>
        </p:nvSpPr>
        <p:spPr>
          <a:xfrm>
            <a:off x="7296150" y="4301430"/>
            <a:ext cx="174021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Deployment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7296150" y="4672900"/>
            <a:ext cx="2385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Heroku Cloud Platform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476250" y="476250"/>
            <a:ext cx="11715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Technical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Architecture</a:t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476250" y="1219200"/>
            <a:ext cx="112395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/>
          <p:nvPr/>
        </p:nvSpPr>
        <p:spPr>
          <a:xfrm>
            <a:off x="476250" y="1004909"/>
            <a:ext cx="5381700" cy="1068600"/>
          </a:xfrm>
          <a:prstGeom prst="roundRect">
            <a:avLst>
              <a:gd name="adj" fmla="val 713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666750" y="1267296"/>
            <a:ext cx="50007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0A5FA"/>
                </a:solidFill>
                <a:latin typeface="Urbanist"/>
                <a:ea typeface="Urbanist"/>
                <a:cs typeface="Urbanist"/>
                <a:sym typeface="Urbanist"/>
              </a:rPr>
              <a:t>Documentation</a:t>
            </a: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>
                <a:solidFill>
                  <a:srgbClr val="4A86E8"/>
                </a:solidFill>
                <a:latin typeface="Urbanist"/>
                <a:ea typeface="Urbanist"/>
                <a:cs typeface="Urbanist"/>
                <a:sym typeface="Urbanist"/>
              </a:rPr>
              <a:t>Completed Research &amp; Functional Specification and D</a:t>
            </a:r>
            <a:r>
              <a:rPr lang="en-US" sz="1500">
                <a:solidFill>
                  <a:srgbClr val="4A86E8"/>
                </a:solidFill>
                <a:latin typeface="Urbanist"/>
                <a:ea typeface="Urbanist"/>
                <a:cs typeface="Urbanist"/>
                <a:sym typeface="Urbanist"/>
              </a:rPr>
              <a:t>esign Document (Draft)</a:t>
            </a:r>
            <a:r>
              <a:rPr lang="en-US" sz="1500" b="0" i="0" u="none" strike="noStrike" cap="none">
                <a:solidFill>
                  <a:srgbClr val="4A86E8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476250" y="1002278"/>
            <a:ext cx="38100" cy="10686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476250" y="2216370"/>
            <a:ext cx="5381700" cy="1373400"/>
          </a:xfrm>
          <a:prstGeom prst="roundRect">
            <a:avLst>
              <a:gd name="adj" fmla="val 554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666750" y="2593776"/>
            <a:ext cx="50007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0A5FA"/>
                </a:solidFill>
                <a:latin typeface="Urbanist"/>
                <a:ea typeface="Urbanist"/>
                <a:cs typeface="Urbanist"/>
                <a:sym typeface="Urbanist"/>
              </a:rPr>
              <a:t>Backend Infrastructure</a:t>
            </a: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>
                <a:solidFill>
                  <a:srgbClr val="4A86E8"/>
                </a:solidFill>
                <a:latin typeface="Urbanist"/>
                <a:ea typeface="Urbanist"/>
                <a:cs typeface="Urbanist"/>
                <a:sym typeface="Urbanist"/>
              </a:rPr>
              <a:t>Django project initialized. Auth &amp; Task Management APIs operational.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476250" y="2213739"/>
            <a:ext cx="38100" cy="1373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476250" y="3724127"/>
            <a:ext cx="5381700" cy="1373400"/>
          </a:xfrm>
          <a:prstGeom prst="roundRect">
            <a:avLst>
              <a:gd name="adj" fmla="val 554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666750" y="4110037"/>
            <a:ext cx="50007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0A5FA"/>
                </a:solidFill>
                <a:latin typeface="Urbanist"/>
                <a:ea typeface="Urbanist"/>
                <a:cs typeface="Urbanist"/>
                <a:sym typeface="Urbanist"/>
              </a:rPr>
              <a:t>Frontend Development</a:t>
            </a: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>
                <a:solidFill>
                  <a:srgbClr val="4A86E8"/>
                </a:solidFill>
                <a:latin typeface="Urbanist"/>
                <a:ea typeface="Urbanist"/>
                <a:cs typeface="Urbanist"/>
                <a:sym typeface="Urbanist"/>
              </a:rPr>
              <a:t>User Registration/Login UI &amp; Functional To-Do List interface.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476250" y="3730000"/>
            <a:ext cx="38100" cy="1373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476250" y="5248892"/>
            <a:ext cx="5381700" cy="1373400"/>
          </a:xfrm>
          <a:prstGeom prst="roundRect">
            <a:avLst>
              <a:gd name="adj" fmla="val 5548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666750" y="5626298"/>
            <a:ext cx="50007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0A5FA"/>
                </a:solidFill>
                <a:latin typeface="Urbanist"/>
                <a:ea typeface="Urbanist"/>
                <a:cs typeface="Urbanist"/>
                <a:sym typeface="Urbanist"/>
              </a:rPr>
              <a:t>Technical Proof of Concept</a:t>
            </a: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b="0" i="0" u="none" strike="noStrike" cap="none">
                <a:solidFill>
                  <a:srgbClr val="4A86E8"/>
                </a:solidFill>
                <a:latin typeface="Urbanist"/>
                <a:ea typeface="Urbanist"/>
                <a:cs typeface="Urbanist"/>
                <a:sym typeface="Urbanist"/>
              </a:rPr>
              <a:t>BLE Scanning logic implemented to successfully detect Movesense devices.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476250" y="5246261"/>
            <a:ext cx="38100" cy="1373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476250" y="68944"/>
            <a:ext cx="11715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Current Progress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(Iterations 1 &amp; 2)</a:t>
            </a:r>
            <a:endParaRPr/>
          </a:p>
        </p:txBody>
      </p:sp>
      <p:sp>
        <p:nvSpPr>
          <p:cNvPr id="177" name="Google Shape;177;p17"/>
          <p:cNvSpPr/>
          <p:nvPr/>
        </p:nvSpPr>
        <p:spPr>
          <a:xfrm>
            <a:off x="476250" y="639365"/>
            <a:ext cx="112395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38945" y="192949"/>
            <a:ext cx="34480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 title="Screenshot_20260125_21385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98780" y="608700"/>
            <a:ext cx="1645920" cy="3108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7" title="Screenshot_20260125_214027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65605" y="608695"/>
            <a:ext cx="1645920" cy="3108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 title="Screenshot_20260125_214038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98780" y="3731913"/>
            <a:ext cx="1645920" cy="3108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7"/>
          <p:cNvPicPr preferRelativeResize="0"/>
          <p:nvPr/>
        </p:nvPicPr>
        <p:blipFill>
          <a:blip r:embed="rId8">
            <a:alphaModFix/>
          </a:blip>
          <a:srcRect/>
          <a:stretch/>
        </p:blipFill>
        <p:spPr>
          <a:xfrm>
            <a:off x="9265605" y="3731925"/>
            <a:ext cx="1645919" cy="3108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619250"/>
            <a:ext cx="5381625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619250"/>
            <a:ext cx="5381625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8"/>
          <p:cNvSpPr txBox="1"/>
          <p:nvPr/>
        </p:nvSpPr>
        <p:spPr>
          <a:xfrm>
            <a:off x="857250" y="2047875"/>
            <a:ext cx="4850606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Left to Do (Next Steps)</a:t>
            </a:r>
            <a:endParaRPr/>
          </a:p>
        </p:txBody>
      </p:sp>
      <p:sp>
        <p:nvSpPr>
          <p:cNvPr id="191" name="Google Shape;191;p18"/>
          <p:cNvSpPr/>
          <p:nvPr/>
        </p:nvSpPr>
        <p:spPr>
          <a:xfrm>
            <a:off x="857250" y="2552700"/>
            <a:ext cx="4619625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 txBox="1"/>
          <p:nvPr/>
        </p:nvSpPr>
        <p:spPr>
          <a:xfrm>
            <a:off x="6715125" y="2047875"/>
            <a:ext cx="4850606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87171"/>
                </a:solidFill>
                <a:latin typeface="Urbanist"/>
                <a:ea typeface="Urbanist"/>
                <a:cs typeface="Urbanist"/>
                <a:sym typeface="Urbanist"/>
              </a:rPr>
              <a:t>Issues for Discussion</a:t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>
            <a:off x="6715125" y="2552700"/>
            <a:ext cx="4619625" cy="9525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1009650" y="284797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1047750" y="2895600"/>
            <a:ext cx="4429125" cy="687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0A5FA"/>
                </a:solidFill>
                <a:latin typeface="Urbanist"/>
                <a:ea typeface="Urbanist"/>
                <a:cs typeface="Urbanist"/>
                <a:sym typeface="Urbanist"/>
              </a:rPr>
              <a:t>Timetable:</a:t>
            </a: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Full implementation of weekly schedule.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1009650" y="3697145"/>
            <a:ext cx="381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1047750" y="3744770"/>
            <a:ext cx="44292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0A5FA"/>
                </a:solidFill>
                <a:latin typeface="Urbanist"/>
                <a:ea typeface="Urbanist"/>
                <a:cs typeface="Urbanist"/>
                <a:sym typeface="Urbanist"/>
              </a:rPr>
              <a:t>Virtual Shop:</a:t>
            </a: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System to exchange XP for virtual items.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1009650" y="4699396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1047750" y="4747021"/>
            <a:ext cx="4429125" cy="687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0A5FA"/>
                </a:solidFill>
                <a:latin typeface="Urbanist"/>
                <a:ea typeface="Urbanist"/>
                <a:cs typeface="Urbanist"/>
                <a:sym typeface="Urbanist"/>
              </a:rPr>
              <a:t>UI/UX:</a:t>
            </a: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Full migration to Material Design 3 standards.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6867525" y="284797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6905625" y="2895600"/>
            <a:ext cx="44292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0A5FA"/>
                </a:solidFill>
                <a:latin typeface="Urbanist"/>
                <a:ea typeface="Urbanist"/>
                <a:cs typeface="Urbanist"/>
                <a:sym typeface="Urbanist"/>
              </a:rPr>
              <a:t>Bluetooth Security (</a:t>
            </a:r>
            <a:r>
              <a:rPr lang="en-US" sz="1250" b="1">
                <a:solidFill>
                  <a:srgbClr val="60A5FA"/>
                </a:solidFill>
                <a:latin typeface="Urbanist"/>
                <a:ea typeface="Urbanist"/>
                <a:cs typeface="Urbanist"/>
                <a:sym typeface="Urbanist"/>
              </a:rPr>
              <a:t>Key Technical Challenge</a:t>
            </a:r>
            <a:r>
              <a:rPr lang="en-US" sz="1500" b="1" i="0" u="none" strike="noStrike" cap="none">
                <a:solidFill>
                  <a:srgbClr val="60A5FA"/>
                </a:solidFill>
                <a:latin typeface="Urbanist"/>
                <a:ea typeface="Urbanist"/>
                <a:cs typeface="Urbanist"/>
                <a:sym typeface="Urbanist"/>
              </a:rPr>
              <a:t>):</a:t>
            </a: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Designing a handshake protocol to prevent "point farming" without real interaction.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6867525" y="4078485"/>
            <a:ext cx="381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6905625" y="4126110"/>
            <a:ext cx="4429125" cy="99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60A5FA"/>
                </a:solidFill>
                <a:latin typeface="Urbanist"/>
                <a:ea typeface="Urbanist"/>
                <a:cs typeface="Urbanist"/>
                <a:sym typeface="Urbanist"/>
              </a:rPr>
              <a:t>Hardware Connectivity:</a:t>
            </a:r>
            <a:r>
              <a:rPr lang="en-US" sz="150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Optimizing connection stability vs. battery drain with Movesense.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476250" y="476250"/>
            <a:ext cx="11715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Future Roadmap &amp; </a:t>
            </a:r>
            <a:r>
              <a:rPr lang="en-US" sz="36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Challenges</a:t>
            </a:r>
            <a:endParaRPr/>
          </a:p>
        </p:txBody>
      </p:sp>
      <p:sp>
        <p:nvSpPr>
          <p:cNvPr id="205" name="Google Shape;205;p18"/>
          <p:cNvSpPr/>
          <p:nvPr/>
        </p:nvSpPr>
        <p:spPr>
          <a:xfrm>
            <a:off x="476250" y="1219200"/>
            <a:ext cx="1123950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9"/>
          <p:cNvSpPr txBox="1"/>
          <p:nvPr/>
        </p:nvSpPr>
        <p:spPr>
          <a:xfrm>
            <a:off x="4975860" y="2343150"/>
            <a:ext cx="22402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Q&amp;A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5029200" y="37719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347</Words>
  <Application>Microsoft Office PowerPoint</Application>
  <PresentationFormat>宽屏</PresentationFormat>
  <Paragraphs>50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Urbanist</vt:lpstr>
      <vt:lpstr>Calibri</vt:lpstr>
      <vt:lpstr>Urbanist Light</vt:lpstr>
      <vt:lpstr>Arial</vt:lpstr>
      <vt:lpstr>Urbanist SemiBold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(Student  C00292846) Shuai Jiang</cp:lastModifiedBy>
  <cp:revision>3</cp:revision>
  <dcterms:modified xsi:type="dcterms:W3CDTF">2026-01-26T00:04:04Z</dcterms:modified>
</cp:coreProperties>
</file>